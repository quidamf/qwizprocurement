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C2BC"/>
    <a:srgbClr val="1A2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2"/>
    <p:restoredTop sz="94712"/>
  </p:normalViewPr>
  <p:slideViewPr>
    <p:cSldViewPr snapToGrid="0" snapToObjects="1">
      <p:cViewPr>
        <p:scale>
          <a:sx n="82" d="100"/>
          <a:sy n="82" d="100"/>
        </p:scale>
        <p:origin x="150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7BA6E6-C291-CF40-BC47-CE464461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9302-9C92-D544-A29F-390B917B0EE1}" type="datetimeFigureOut">
              <a:rPr lang="es-MX" smtClean="0"/>
              <a:t>02/10/26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D8B44C-46F8-2F4F-AEB3-5242345C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B130FA-B305-8D4A-A34C-49AB5E3A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8701-0ACE-4342-9E96-6FF35A466E34}" type="slidenum">
              <a:rPr lang="es-MX" smtClean="0"/>
              <a:t>‹Nº›</a:t>
            </a:fld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E0F9255-4006-F94C-BD88-3F730E8291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2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391BDC3-7826-BB4C-8BA4-E985643D0285}"/>
              </a:ext>
            </a:extLst>
          </p:cNvPr>
          <p:cNvSpPr/>
          <p:nvPr userDrawn="1"/>
        </p:nvSpPr>
        <p:spPr>
          <a:xfrm>
            <a:off x="-2720702" y="-2167717"/>
            <a:ext cx="6819254" cy="6819254"/>
          </a:xfrm>
          <a:prstGeom prst="ellipse">
            <a:avLst/>
          </a:prstGeom>
          <a:noFill/>
          <a:ln w="38100">
            <a:solidFill>
              <a:srgbClr val="6EC2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6796F33-5181-914A-82DA-741B1EB0234F}"/>
              </a:ext>
            </a:extLst>
          </p:cNvPr>
          <p:cNvSpPr/>
          <p:nvPr userDrawn="1"/>
        </p:nvSpPr>
        <p:spPr>
          <a:xfrm>
            <a:off x="-3145072" y="2946723"/>
            <a:ext cx="6819254" cy="6819254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804D0CF-2E6A-3140-AEDE-8E1CBAC14E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56095" y="620076"/>
            <a:ext cx="4065661" cy="207986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9582724-D072-EE47-9333-E7E5F9CC1A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07506" y="3045746"/>
            <a:ext cx="5362838" cy="1793361"/>
          </a:xfrm>
          <a:prstGeom prst="rect">
            <a:avLst/>
          </a:prstGeom>
        </p:spPr>
      </p:pic>
      <p:sp>
        <p:nvSpPr>
          <p:cNvPr id="20" name="Elipse 19">
            <a:extLst>
              <a:ext uri="{FF2B5EF4-FFF2-40B4-BE49-F238E27FC236}">
                <a16:creationId xmlns:a16="http://schemas.microsoft.com/office/drawing/2014/main" id="{B3A3781B-4590-9749-BED8-D8E728B4C1C1}"/>
              </a:ext>
            </a:extLst>
          </p:cNvPr>
          <p:cNvSpPr/>
          <p:nvPr userDrawn="1"/>
        </p:nvSpPr>
        <p:spPr>
          <a:xfrm>
            <a:off x="-3309642" y="-3114803"/>
            <a:ext cx="5519442" cy="5519442"/>
          </a:xfrm>
          <a:prstGeom prst="ellipse">
            <a:avLst/>
          </a:prstGeom>
          <a:noFill/>
          <a:ln w="38100">
            <a:solidFill>
              <a:srgbClr val="6EC2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DFAA0B4-BC3E-0B49-92A5-C29BE64D0B0A}"/>
              </a:ext>
            </a:extLst>
          </p:cNvPr>
          <p:cNvSpPr/>
          <p:nvPr userDrawn="1"/>
        </p:nvSpPr>
        <p:spPr>
          <a:xfrm>
            <a:off x="3674182" y="1849038"/>
            <a:ext cx="629962" cy="629962"/>
          </a:xfrm>
          <a:prstGeom prst="ellipse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060C90C5-51C1-7B49-BB45-56B02B5362D6}"/>
              </a:ext>
            </a:extLst>
          </p:cNvPr>
          <p:cNvSpPr/>
          <p:nvPr userDrawn="1"/>
        </p:nvSpPr>
        <p:spPr>
          <a:xfrm>
            <a:off x="3094969" y="5005198"/>
            <a:ext cx="943631" cy="943631"/>
          </a:xfrm>
          <a:prstGeom prst="ellipse">
            <a:avLst/>
          </a:prstGeom>
          <a:solidFill>
            <a:srgbClr val="6EC2B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F02A2EB5-72DF-A143-BFCB-C0869A3A5CBE}"/>
              </a:ext>
            </a:extLst>
          </p:cNvPr>
          <p:cNvSpPr/>
          <p:nvPr userDrawn="1"/>
        </p:nvSpPr>
        <p:spPr>
          <a:xfrm>
            <a:off x="1806663" y="530054"/>
            <a:ext cx="420412" cy="420412"/>
          </a:xfrm>
          <a:prstGeom prst="ellipse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FE3904DD-19AA-4946-82E0-C09B53B8B562}"/>
              </a:ext>
            </a:extLst>
          </p:cNvPr>
          <p:cNvSpPr/>
          <p:nvPr userDrawn="1"/>
        </p:nvSpPr>
        <p:spPr>
          <a:xfrm>
            <a:off x="339813" y="2720804"/>
            <a:ext cx="420412" cy="420412"/>
          </a:xfrm>
          <a:prstGeom prst="ellipse">
            <a:avLst/>
          </a:prstGeom>
          <a:solidFill>
            <a:srgbClr val="6EC2B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2CD739B7-C056-C148-B347-D1DA70D8EFD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10775" y="5184913"/>
            <a:ext cx="5956300" cy="584200"/>
          </a:xfrm>
          <a:prstGeom prst="rect">
            <a:avLst/>
          </a:prstGeom>
        </p:spPr>
      </p:pic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BCFEF69-24BF-0445-B17F-E8A9D3BB3A81}"/>
              </a:ext>
            </a:extLst>
          </p:cNvPr>
          <p:cNvCxnSpPr>
            <a:cxnSpLocks/>
          </p:cNvCxnSpPr>
          <p:nvPr userDrawn="1"/>
        </p:nvCxnSpPr>
        <p:spPr>
          <a:xfrm>
            <a:off x="6848216" y="4839107"/>
            <a:ext cx="26814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90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fecha 1">
            <a:extLst>
              <a:ext uri="{FF2B5EF4-FFF2-40B4-BE49-F238E27FC236}">
                <a16:creationId xmlns:a16="http://schemas.microsoft.com/office/drawing/2014/main" id="{D71E03CB-239D-8F4B-B3AB-7603413116C5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E49302-9C92-D544-A29F-390B917B0EE1}" type="datetimeFigureOut">
              <a:rPr lang="es-MX" smtClean="0"/>
              <a:pPr/>
              <a:t>02/10/26</a:t>
            </a:fld>
            <a:endParaRPr lang="es-MX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7BA6E6-C291-CF40-BC47-CE464461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9302-9C92-D544-A29F-390B917B0EE1}" type="datetimeFigureOut">
              <a:rPr lang="es-MX" smtClean="0"/>
              <a:t>02/10/26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D8B44C-46F8-2F4F-AEB3-5242345C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B130FA-B305-8D4A-A34C-49AB5E3A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8701-0ACE-4342-9E96-6FF35A466E34}" type="slidenum">
              <a:rPr lang="es-MX" smtClean="0"/>
              <a:t>‹Nº›</a:t>
            </a:fld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10ACD29-F98C-324A-AB99-E7CB2CC3F01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2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2CC657-D95A-4A44-BFF3-C9F371C942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84394" y="414428"/>
            <a:ext cx="3623212" cy="902928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F23BA29B-CC82-8B4C-930F-1BAFDCD72531}"/>
              </a:ext>
            </a:extLst>
          </p:cNvPr>
          <p:cNvSpPr/>
          <p:nvPr userDrawn="1"/>
        </p:nvSpPr>
        <p:spPr>
          <a:xfrm>
            <a:off x="8782373" y="-5436110"/>
            <a:ext cx="6819254" cy="6819254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DA548BC-F369-6D47-8D4F-66FEFCC2CA3D}"/>
              </a:ext>
            </a:extLst>
          </p:cNvPr>
          <p:cNvSpPr/>
          <p:nvPr userDrawn="1"/>
        </p:nvSpPr>
        <p:spPr>
          <a:xfrm>
            <a:off x="-2621299" y="-4052967"/>
            <a:ext cx="5519442" cy="5519442"/>
          </a:xfrm>
          <a:prstGeom prst="ellipse">
            <a:avLst/>
          </a:prstGeom>
          <a:noFill/>
          <a:ln w="38100">
            <a:solidFill>
              <a:srgbClr val="6EC2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631D5FE-3016-AC4C-ABA0-0BFFCC6586DE}"/>
              </a:ext>
            </a:extLst>
          </p:cNvPr>
          <p:cNvSpPr/>
          <p:nvPr userDrawn="1"/>
        </p:nvSpPr>
        <p:spPr>
          <a:xfrm>
            <a:off x="1806663" y="530054"/>
            <a:ext cx="420412" cy="420412"/>
          </a:xfrm>
          <a:prstGeom prst="ellipse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F69FB1D-1197-B343-B192-5DC49963D037}"/>
              </a:ext>
            </a:extLst>
          </p:cNvPr>
          <p:cNvSpPr/>
          <p:nvPr userDrawn="1"/>
        </p:nvSpPr>
        <p:spPr>
          <a:xfrm>
            <a:off x="9947510" y="511268"/>
            <a:ext cx="420412" cy="420412"/>
          </a:xfrm>
          <a:prstGeom prst="ellipse">
            <a:avLst/>
          </a:prstGeom>
          <a:solidFill>
            <a:srgbClr val="6EC2BC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495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2A154B8-63AC-7146-AD66-7BEA11C8A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FE28F7-B7ED-F845-900F-EA92344B9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A93CA3-96D0-334D-AC97-01BC85B62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49302-9C92-D544-A29F-390B917B0EE1}" type="datetimeFigureOut">
              <a:rPr lang="es-MX" smtClean="0"/>
              <a:t>02/10/26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5195F-7E36-BD44-876D-CEA5706C1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187D75-2387-844E-8C21-63FA8E2D9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D8701-0ACE-4342-9E96-6FF35A466E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926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188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¿CUÁL ES EL </a:t>
            </a:r>
            <a:r>
              <a:rPr lang="es-MX" sz="3200" b="1" dirty="0">
                <a:solidFill>
                  <a:srgbClr val="6EC2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 OBJETIVO 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 ÁREA DE COMPRAS?</a:t>
            </a:r>
            <a:endParaRPr lang="es-MX" sz="3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Vender productos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Contratar personal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262896"/>
            <a:ext cx="4074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Adquirir bienes y servicios necesarios para la empresa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medicamentos</a:t>
            </a:r>
          </a:p>
        </p:txBody>
      </p:sp>
    </p:spTree>
    <p:extLst>
      <p:ext uri="{BB962C8B-B14F-4D97-AF65-F5344CB8AC3E}">
        <p14:creationId xmlns:p14="http://schemas.microsoft.com/office/powerpoint/2010/main" val="2555211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¿QUÉ SIGNIFICA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"TCO" 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COMPRAS?</a:t>
            </a:r>
            <a:endParaRPr lang="es-MX" sz="3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Cost of Ownership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09071"/>
            <a:ext cx="3489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Contract Organization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Cost Optimization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Trade Cost Office</a:t>
            </a:r>
          </a:p>
        </p:txBody>
      </p:sp>
    </p:spTree>
    <p:extLst>
      <p:ext uri="{BB962C8B-B14F-4D97-AF65-F5344CB8AC3E}">
        <p14:creationId xmlns:p14="http://schemas.microsoft.com/office/powerpoint/2010/main" val="1923747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082095" y="1905084"/>
            <a:ext cx="100278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¿CUÁL DE LOS SIGUIENTES ES UN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CRITERIO CLAVE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SELECCIONAR UN PROVEEDOR?</a:t>
            </a:r>
            <a:endParaRPr lang="es-MX" sz="3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 del logotipo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09071"/>
            <a:ext cx="3489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Calidad, costo y servicio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Antigüedad del sitio web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 de empleados</a:t>
            </a:r>
          </a:p>
        </p:txBody>
      </p:sp>
    </p:spTree>
    <p:extLst>
      <p:ext uri="{BB962C8B-B14F-4D97-AF65-F5344CB8AC3E}">
        <p14:creationId xmlns:p14="http://schemas.microsoft.com/office/powerpoint/2010/main" val="216090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082095" y="1905084"/>
            <a:ext cx="10027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¿QUÉ DOCUMENTO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FORMALIZA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UNA COMPRA?</a:t>
            </a:r>
            <a:endParaRPr lang="es-MX" sz="3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Factura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09071"/>
            <a:ext cx="3489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 de compra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Cotización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Contrato laboral</a:t>
            </a:r>
          </a:p>
        </p:txBody>
      </p:sp>
    </p:spTree>
    <p:extLst>
      <p:ext uri="{BB962C8B-B14F-4D97-AF65-F5344CB8AC3E}">
        <p14:creationId xmlns:p14="http://schemas.microsoft.com/office/powerpoint/2010/main" val="1952832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580704" y="1905084"/>
            <a:ext cx="110305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28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¿CUÁNTAS COTIZACIONES SUELEN SOLICITARSE COMO </a:t>
            </a:r>
            <a:r>
              <a:rPr lang="es-MX" sz="28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BUENA PRÁCTICA</a:t>
            </a:r>
            <a:r>
              <a:rPr lang="es-MX" sz="28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ANTES DE ADJUDICAR UNA COMPRA?</a:t>
            </a:r>
            <a:endParaRPr lang="es-MX" sz="28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09071"/>
            <a:ext cx="3489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o más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1510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2328979" y="1905084"/>
            <a:ext cx="75340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¿QUÉ ÁREA SUELE SER EL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CLIENTE INTERNO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COMPRAS?</a:t>
            </a:r>
            <a:endParaRPr lang="es-MX" sz="3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Finanzas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09071"/>
            <a:ext cx="3489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231097"/>
            <a:ext cx="39400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Cualquier área que requiera bienes o servicios</a:t>
            </a:r>
          </a:p>
        </p:txBody>
      </p:sp>
    </p:spTree>
    <p:extLst>
      <p:ext uri="{BB962C8B-B14F-4D97-AF65-F5344CB8AC3E}">
        <p14:creationId xmlns:p14="http://schemas.microsoft.com/office/powerpoint/2010/main" val="325294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2328979" y="1905084"/>
            <a:ext cx="75340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¿QUÉ SIGNIFICA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NEGOCIAR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 UN PROVEEDOR?</a:t>
            </a:r>
            <a:endParaRPr lang="es-MX" sz="3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Solicitar descuentos únicamente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685085"/>
            <a:ext cx="3489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Buscar acuerdos mutuamente beneficiosos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Cambiar de proveedor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Comparar facturas</a:t>
            </a:r>
          </a:p>
        </p:txBody>
      </p:sp>
    </p:spTree>
    <p:extLst>
      <p:ext uri="{BB962C8B-B14F-4D97-AF65-F5344CB8AC3E}">
        <p14:creationId xmlns:p14="http://schemas.microsoft.com/office/powerpoint/2010/main" val="146131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2328979" y="1905084"/>
            <a:ext cx="75340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¿CUÁL DE LOS SIGUIENTES ES UN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GASTO INDIRECTO?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682417"/>
            <a:ext cx="3984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 prima para fabricar medicamentos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24351"/>
            <a:ext cx="3940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Ingrediente activo farmacéutico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limpieza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Excipiente</a:t>
            </a:r>
          </a:p>
        </p:txBody>
      </p:sp>
    </p:spTree>
    <p:extLst>
      <p:ext uri="{BB962C8B-B14F-4D97-AF65-F5344CB8AC3E}">
        <p14:creationId xmlns:p14="http://schemas.microsoft.com/office/powerpoint/2010/main" val="4249385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 ¿QUÉ ES UN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PROVEEDOR ESTRATÉGICO?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4511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más cercano geográficamente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34511"/>
            <a:ext cx="3940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más económico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249717"/>
            <a:ext cx="4074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Aquel cuyo suministro es crítico para el negocio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más antiguo</a:t>
            </a:r>
          </a:p>
        </p:txBody>
      </p:sp>
    </p:spTree>
    <p:extLst>
      <p:ext uri="{BB962C8B-B14F-4D97-AF65-F5344CB8AC3E}">
        <p14:creationId xmlns:p14="http://schemas.microsoft.com/office/powerpoint/2010/main" val="2139655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580704" y="1905084"/>
            <a:ext cx="110305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 ¿QUÉ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ÁREA SUELE VALIDAR 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CALIDAD DE MATERIALES FARMACÉUTICOS?</a:t>
            </a:r>
            <a:endParaRPr lang="es-MX" sz="3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Compras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09071"/>
            <a:ext cx="3489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Recursos Humanos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Calidad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Jurídico</a:t>
            </a:r>
          </a:p>
        </p:txBody>
      </p:sp>
    </p:spTree>
    <p:extLst>
      <p:ext uri="{BB962C8B-B14F-4D97-AF65-F5344CB8AC3E}">
        <p14:creationId xmlns:p14="http://schemas.microsoft.com/office/powerpoint/2010/main" val="4085949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580704" y="1905084"/>
            <a:ext cx="11030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11. ¿QUÉ SIGNIFICA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"LEAD TIME"?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de entrega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09071"/>
            <a:ext cx="3489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de pago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Duración de contrato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de auditoría</a:t>
            </a:r>
          </a:p>
        </p:txBody>
      </p:sp>
    </p:spTree>
    <p:extLst>
      <p:ext uri="{BB962C8B-B14F-4D97-AF65-F5344CB8AC3E}">
        <p14:creationId xmlns:p14="http://schemas.microsoft.com/office/powerpoint/2010/main" val="3919804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2328979" y="1905084"/>
            <a:ext cx="75340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12. ¿CUÁL ES EL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OBJETIVO PRINCIPAL 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UNA LICITACIÓN?</a:t>
            </a:r>
            <a:endParaRPr lang="es-MX" sz="3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Aumentar inventarios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685085"/>
            <a:ext cx="3489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Seleccionar la mejor oferta bajo criterios definidos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Eliminar proveedores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Reducir impuestos</a:t>
            </a:r>
          </a:p>
        </p:txBody>
      </p:sp>
    </p:spTree>
    <p:extLst>
      <p:ext uri="{BB962C8B-B14F-4D97-AF65-F5344CB8AC3E}">
        <p14:creationId xmlns:p14="http://schemas.microsoft.com/office/powerpoint/2010/main" val="3747903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952277" y="1905084"/>
            <a:ext cx="82874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13. EN UNA EMPRESA FARMACÉUTICA,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¿QUÉ ES UN API?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685085"/>
            <a:ext cx="3984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Programming Interface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685085"/>
            <a:ext cx="3489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Pharmaceutical Ingredient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Approved Purchasing Item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Authorized Product Inventory</a:t>
            </a:r>
          </a:p>
        </p:txBody>
      </p:sp>
    </p:spTree>
    <p:extLst>
      <p:ext uri="{BB962C8B-B14F-4D97-AF65-F5344CB8AC3E}">
        <p14:creationId xmlns:p14="http://schemas.microsoft.com/office/powerpoint/2010/main" val="3248010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580704" y="1905084"/>
            <a:ext cx="110305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14. ¿QUÉ DEPARTAMENTO SUELE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APROBAR LOS TÉRMINOS LEGALES 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UN CONTRATO?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Compras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09071"/>
            <a:ext cx="3489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Calidad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Jurídico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Logística</a:t>
            </a:r>
          </a:p>
        </p:txBody>
      </p:sp>
    </p:spTree>
    <p:extLst>
      <p:ext uri="{BB962C8B-B14F-4D97-AF65-F5344CB8AC3E}">
        <p14:creationId xmlns:p14="http://schemas.microsoft.com/office/powerpoint/2010/main" val="968000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952277" y="1905084"/>
            <a:ext cx="82874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15. ¿QUÉ INDICADOR MIDE EL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DESEMPEÑO DE UN PROVEEDOR?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09071"/>
            <a:ext cx="31051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09071"/>
            <a:ext cx="3489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ERP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CRM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GMP</a:t>
            </a:r>
          </a:p>
        </p:txBody>
      </p:sp>
    </p:spTree>
    <p:extLst>
      <p:ext uri="{BB962C8B-B14F-4D97-AF65-F5344CB8AC3E}">
        <p14:creationId xmlns:p14="http://schemas.microsoft.com/office/powerpoint/2010/main" val="1852040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952277" y="1905084"/>
            <a:ext cx="82874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16. ¿QUÉ SIGNIFICA GMP 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LA INDUSTRIA FARMACÉUTICA?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29408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Manufacturing Process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29408"/>
            <a:ext cx="392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Manufacturing Practices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Market Policy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 Medical Program</a:t>
            </a:r>
          </a:p>
        </p:txBody>
      </p:sp>
    </p:spTree>
    <p:extLst>
      <p:ext uri="{BB962C8B-B14F-4D97-AF65-F5344CB8AC3E}">
        <p14:creationId xmlns:p14="http://schemas.microsoft.com/office/powerpoint/2010/main" val="3263254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952277" y="1905084"/>
            <a:ext cx="82874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17. ¿CUÁL ES UNA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VENTAJA DE CONSOLIDAR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PROVEEDORES?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685085"/>
            <a:ext cx="3984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Incrementar el trabajo administrativo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38973"/>
            <a:ext cx="3940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Reducir poder de negociación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249717"/>
            <a:ext cx="4074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Obtener mejores condiciones comerciales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Aumentar riesgos operativos</a:t>
            </a:r>
          </a:p>
        </p:txBody>
      </p:sp>
    </p:spTree>
    <p:extLst>
      <p:ext uri="{BB962C8B-B14F-4D97-AF65-F5344CB8AC3E}">
        <p14:creationId xmlns:p14="http://schemas.microsoft.com/office/powerpoint/2010/main" val="2090247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18. ¿QUÉ ES UNA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COMPRA DE EMERGENCIA?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compra planeada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8" y="3685085"/>
            <a:ext cx="40747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adquisición fuera del proceso normal por necesidad urgente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compra internacional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compra anual</a:t>
            </a:r>
          </a:p>
        </p:txBody>
      </p:sp>
    </p:spTree>
    <p:extLst>
      <p:ext uri="{BB962C8B-B14F-4D97-AF65-F5344CB8AC3E}">
        <p14:creationId xmlns:p14="http://schemas.microsoft.com/office/powerpoint/2010/main" val="315758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19. ¿QUÉ SIGNIFICA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SIGLA ERP?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Resource Planning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8" y="3838973"/>
            <a:ext cx="407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Resource Provider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Report Process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Risk Program</a:t>
            </a:r>
          </a:p>
        </p:txBody>
      </p:sp>
    </p:spTree>
    <p:extLst>
      <p:ext uri="{BB962C8B-B14F-4D97-AF65-F5344CB8AC3E}">
        <p14:creationId xmlns:p14="http://schemas.microsoft.com/office/powerpoint/2010/main" val="2312065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20. ¿CUÁL ES UN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RIESGO DE DEPENDER 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UN SOLO PROVEEDOR?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 servicio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8" y="3838973"/>
            <a:ext cx="407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 contratos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Interrupciones de suministro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 auditorías</a:t>
            </a:r>
          </a:p>
        </p:txBody>
      </p:sp>
    </p:spTree>
    <p:extLst>
      <p:ext uri="{BB962C8B-B14F-4D97-AF65-F5344CB8AC3E}">
        <p14:creationId xmlns:p14="http://schemas.microsoft.com/office/powerpoint/2010/main" val="4103330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21. ¿QUÉ DOCUMENTO EMITE UN PROVEEDOR PARA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PROPONER PRECIOS Y CONDICIONES?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Contrato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8" y="3838973"/>
            <a:ext cx="407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Cotización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Recibo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Certificado GMP</a:t>
            </a:r>
          </a:p>
        </p:txBody>
      </p:sp>
    </p:spTree>
    <p:extLst>
      <p:ext uri="{BB962C8B-B14F-4D97-AF65-F5344CB8AC3E}">
        <p14:creationId xmlns:p14="http://schemas.microsoft.com/office/powerpoint/2010/main" val="1989039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2671435" y="1905084"/>
            <a:ext cx="68491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22. ¿QUÉ BUSCA UNA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AUDITORÍA A PROVEEDORES?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685085"/>
            <a:ext cx="3984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Confirmar el cumplimiento de requisitos establecidos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38973"/>
            <a:ext cx="3940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Negociar precios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Aumentar inventarios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Revisar ventas</a:t>
            </a:r>
          </a:p>
        </p:txBody>
      </p:sp>
    </p:spTree>
    <p:extLst>
      <p:ext uri="{BB962C8B-B14F-4D97-AF65-F5344CB8AC3E}">
        <p14:creationId xmlns:p14="http://schemas.microsoft.com/office/powerpoint/2010/main" val="738514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2328979" y="1905084"/>
            <a:ext cx="75340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23. ¿CUÁL ES UNA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PRÁCTICA ÉTICA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UN COMPRADOR?</a:t>
            </a:r>
            <a:endParaRPr lang="es-MX" sz="3200" b="1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0265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Aceptar regalos de alto valor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830265"/>
            <a:ext cx="3940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Favorecer amigos proveedores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249717"/>
            <a:ext cx="3984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Mantener imparcialidad en las decisiones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249717"/>
            <a:ext cx="3417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Compartir 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2270965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952277" y="1905084"/>
            <a:ext cx="8287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24. ¿QUÉ ES EL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AHORRO EN COMPRAS?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1422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Comprar menos cantidad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9" y="3669845"/>
            <a:ext cx="3940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Diferencia positiva entre costo esperado y costo negociado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9841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Reducir calidad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98413"/>
            <a:ext cx="3417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Pagar después</a:t>
            </a:r>
          </a:p>
        </p:txBody>
      </p:sp>
    </p:spTree>
    <p:extLst>
      <p:ext uri="{BB962C8B-B14F-4D97-AF65-F5344CB8AC3E}">
        <p14:creationId xmlns:p14="http://schemas.microsoft.com/office/powerpoint/2010/main" val="3389585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25. ¿QUÉ SIGNIFICA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MOQ?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Order Quantity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8" y="3838973"/>
            <a:ext cx="407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Order Quality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 Operations Quality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Order Quality</a:t>
            </a:r>
          </a:p>
        </p:txBody>
      </p:sp>
    </p:spTree>
    <p:extLst>
      <p:ext uri="{BB962C8B-B14F-4D97-AF65-F5344CB8AC3E}">
        <p14:creationId xmlns:p14="http://schemas.microsoft.com/office/powerpoint/2010/main" val="1764850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26. ¿CUÁL ES EL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PROPÓSITO PRINCIPAL 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UN CONTRATO CON PROVEEDORES?</a:t>
            </a:r>
            <a:endParaRPr lang="es-MX" sz="3200" b="1" u="none" strike="noStrike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Incrementar burocracia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8" y="3670975"/>
            <a:ext cx="40747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Formalizar derechos, obligaciones y condiciones comerciales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Aprobar pagos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Generar reportes financieros</a:t>
            </a:r>
          </a:p>
        </p:txBody>
      </p:sp>
    </p:spTree>
    <p:extLst>
      <p:ext uri="{BB962C8B-B14F-4D97-AF65-F5344CB8AC3E}">
        <p14:creationId xmlns:p14="http://schemas.microsoft.com/office/powerpoint/2010/main" val="487559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27. ¿QUÉ ÁREA SUELE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GESTIONAR EL ALMACENAMIENTO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MATERIALES?</a:t>
            </a:r>
            <a:endParaRPr lang="es-MX" sz="3200" b="1" u="none" strike="noStrike" dirty="0">
              <a:solidFill>
                <a:srgbClr val="6EC2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Jurídico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8" y="3838973"/>
            <a:ext cx="407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Compras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Almacén/logística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</a:p>
        </p:txBody>
      </p:sp>
    </p:spTree>
    <p:extLst>
      <p:ext uri="{BB962C8B-B14F-4D97-AF65-F5344CB8AC3E}">
        <p14:creationId xmlns:p14="http://schemas.microsoft.com/office/powerpoint/2010/main" val="1329732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082095" y="1905084"/>
            <a:ext cx="100278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28. ¿CUÁL ES UNA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VENTAJA DE LOS ACUERDOS MARCO O CONTRATOS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LARGO PLAZO?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Menor control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8" y="3838973"/>
            <a:ext cx="407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 incertidumbre de precios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249125"/>
            <a:ext cx="4074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Estabilidad de suministros y condiciones comerciales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407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 órdenes de compra urgentes</a:t>
            </a:r>
          </a:p>
        </p:txBody>
      </p:sp>
    </p:spTree>
    <p:extLst>
      <p:ext uri="{BB962C8B-B14F-4D97-AF65-F5344CB8AC3E}">
        <p14:creationId xmlns:p14="http://schemas.microsoft.com/office/powerpoint/2010/main" val="3593688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082095" y="1905084"/>
            <a:ext cx="100278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29. ¿QUÉ SIGNIFICA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ABASTECIMIENTO ESTRATÉGICO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(STRATEGIC SOURCING)?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685085"/>
            <a:ext cx="3984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Comprar únicamente al proveedor más barato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8" y="3838973"/>
            <a:ext cx="407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Comprar localmente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249125"/>
            <a:ext cx="4074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Analizar mercados y categorías para optimizar valor y riesgo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407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Comprar grandes volúmenes</a:t>
            </a:r>
          </a:p>
        </p:txBody>
      </p:sp>
    </p:spTree>
    <p:extLst>
      <p:ext uri="{BB962C8B-B14F-4D97-AF65-F5344CB8AC3E}">
        <p14:creationId xmlns:p14="http://schemas.microsoft.com/office/powerpoint/2010/main" val="2717388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CA7EC2-E96D-1F4C-B374-5DAC47FDF357}"/>
              </a:ext>
            </a:extLst>
          </p:cNvPr>
          <p:cNvSpPr txBox="1"/>
          <p:nvPr/>
        </p:nvSpPr>
        <p:spPr>
          <a:xfrm>
            <a:off x="1537904" y="1905084"/>
            <a:ext cx="91161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30. ¿CUÁL ES EL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INDICADOR</a:t>
            </a:r>
            <a:r>
              <a:rPr lang="es-MX" sz="320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MÁS RELACIONADO CON </a:t>
            </a:r>
            <a:r>
              <a:rPr lang="es-MX" sz="3200" b="1" u="none" strike="noStrike" dirty="0">
                <a:solidFill>
                  <a:srgbClr val="6EC2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ENTREGAS A TIEMPO?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C53248-C7C7-A44B-9DE5-61336EF98A95}"/>
              </a:ext>
            </a:extLst>
          </p:cNvPr>
          <p:cNvSpPr txBox="1"/>
          <p:nvPr/>
        </p:nvSpPr>
        <p:spPr>
          <a:xfrm>
            <a:off x="1683571" y="3838973"/>
            <a:ext cx="3984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OTIF (On Time In Full)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CDC6C59-88A1-7D43-8C90-E4AE7333E87C}"/>
              </a:ext>
            </a:extLst>
          </p:cNvPr>
          <p:cNvGrpSpPr/>
          <p:nvPr/>
        </p:nvGrpSpPr>
        <p:grpSpPr>
          <a:xfrm>
            <a:off x="846065" y="3565120"/>
            <a:ext cx="4912238" cy="949569"/>
            <a:chOff x="412592" y="3565120"/>
            <a:chExt cx="4912238" cy="949569"/>
          </a:xfrm>
        </p:grpSpPr>
        <p:sp>
          <p:nvSpPr>
            <p:cNvPr id="3" name="Rectángulo redondeado 2">
              <a:extLst>
                <a:ext uri="{FF2B5EF4-FFF2-40B4-BE49-F238E27FC236}">
                  <a16:creationId xmlns:a16="http://schemas.microsoft.com/office/drawing/2014/main" id="{1AD22635-4F9E-3647-B5B0-C4ADA8614B78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F09B9C-850D-B145-B743-D973BFB054E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F2B9C6E-6046-4840-9468-5A521C564813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2175BD1-FC8A-2642-9776-493838BC3503}"/>
              </a:ext>
            </a:extLst>
          </p:cNvPr>
          <p:cNvGrpSpPr/>
          <p:nvPr/>
        </p:nvGrpSpPr>
        <p:grpSpPr>
          <a:xfrm>
            <a:off x="6252952" y="3565120"/>
            <a:ext cx="4912238" cy="949569"/>
            <a:chOff x="412592" y="3565120"/>
            <a:chExt cx="4912238" cy="949569"/>
          </a:xfrm>
        </p:grpSpPr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A7032988-AA5A-5047-A8FA-F5FB25F4DA96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938330A-AF7A-3D44-A02C-FBDBFF40729B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BDC69E9-A6CD-7749-A7A9-1C4CE065BCD8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835F8BC-F1CD-AB47-AB44-CF982EB5349E}"/>
              </a:ext>
            </a:extLst>
          </p:cNvPr>
          <p:cNvGrpSpPr/>
          <p:nvPr/>
        </p:nvGrpSpPr>
        <p:grpSpPr>
          <a:xfrm>
            <a:off x="846065" y="5128876"/>
            <a:ext cx="4912238" cy="949569"/>
            <a:chOff x="412592" y="3565120"/>
            <a:chExt cx="4912238" cy="949569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13A1B0A1-EACB-0947-97AE-308D71267417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02E4461-E418-CF4D-99A0-E01413858004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920E201-D2CF-3C4C-96F1-CFD6FA128A6C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E906BB1-881C-A847-A629-136A789ED40D}"/>
              </a:ext>
            </a:extLst>
          </p:cNvPr>
          <p:cNvGrpSpPr/>
          <p:nvPr/>
        </p:nvGrpSpPr>
        <p:grpSpPr>
          <a:xfrm>
            <a:off x="6252952" y="5128876"/>
            <a:ext cx="4912238" cy="949569"/>
            <a:chOff x="412592" y="3565120"/>
            <a:chExt cx="4912238" cy="949569"/>
          </a:xfrm>
        </p:grpSpPr>
        <p:sp>
          <p:nvSpPr>
            <p:cNvPr id="25" name="Rectángulo redondeado 24">
              <a:extLst>
                <a:ext uri="{FF2B5EF4-FFF2-40B4-BE49-F238E27FC236}">
                  <a16:creationId xmlns:a16="http://schemas.microsoft.com/office/drawing/2014/main" id="{81CB85D7-557D-1440-88DA-7B4B8FC4179F}"/>
                </a:ext>
              </a:extLst>
            </p:cNvPr>
            <p:cNvSpPr/>
            <p:nvPr/>
          </p:nvSpPr>
          <p:spPr>
            <a:xfrm>
              <a:off x="745588" y="3565120"/>
              <a:ext cx="4579242" cy="949569"/>
            </a:xfrm>
            <a:prstGeom prst="roundRect">
              <a:avLst/>
            </a:prstGeom>
            <a:noFill/>
            <a:ln w="28575">
              <a:solidFill>
                <a:srgbClr val="6EC2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C8D55E9-F8C8-0948-ADB8-CFB7C9DA591D}"/>
                </a:ext>
              </a:extLst>
            </p:cNvPr>
            <p:cNvSpPr/>
            <p:nvPr/>
          </p:nvSpPr>
          <p:spPr>
            <a:xfrm>
              <a:off x="412592" y="3712392"/>
              <a:ext cx="662559" cy="662559"/>
            </a:xfrm>
            <a:prstGeom prst="ellipse">
              <a:avLst/>
            </a:prstGeom>
            <a:solidFill>
              <a:srgbClr val="6EC2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D258D41-BD6B-FD43-BF77-7D60501E3C02}"/>
                </a:ext>
              </a:extLst>
            </p:cNvPr>
            <p:cNvSpPr txBox="1"/>
            <p:nvPr/>
          </p:nvSpPr>
          <p:spPr>
            <a:xfrm>
              <a:off x="434178" y="3675869"/>
              <a:ext cx="619386" cy="6463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s-MX" sz="3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1D4D180-F99B-B741-A4B2-562DE5E6F388}"/>
              </a:ext>
            </a:extLst>
          </p:cNvPr>
          <p:cNvSpPr txBox="1"/>
          <p:nvPr/>
        </p:nvSpPr>
        <p:spPr>
          <a:xfrm>
            <a:off x="7090458" y="3838973"/>
            <a:ext cx="4074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EBITDA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4988A0-A51D-F346-8117-2A768BAD4B60}"/>
              </a:ext>
            </a:extLst>
          </p:cNvPr>
          <p:cNvSpPr txBox="1"/>
          <p:nvPr/>
        </p:nvSpPr>
        <p:spPr>
          <a:xfrm>
            <a:off x="1683571" y="5386080"/>
            <a:ext cx="4074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90CFB3B-2265-604E-815E-C717EACA7395}"/>
              </a:ext>
            </a:extLst>
          </p:cNvPr>
          <p:cNvSpPr txBox="1"/>
          <p:nvPr/>
        </p:nvSpPr>
        <p:spPr>
          <a:xfrm>
            <a:off x="7090458" y="5386080"/>
            <a:ext cx="394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NPS</a:t>
            </a:r>
          </a:p>
        </p:txBody>
      </p:sp>
    </p:spTree>
    <p:extLst>
      <p:ext uri="{BB962C8B-B14F-4D97-AF65-F5344CB8AC3E}">
        <p14:creationId xmlns:p14="http://schemas.microsoft.com/office/powerpoint/2010/main" val="1810459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3967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828</Words>
  <Application>Microsoft Macintosh PowerPoint</Application>
  <PresentationFormat>Panorámica</PresentationFormat>
  <Paragraphs>270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Frank Castrejon</dc:creator>
  <cp:lastModifiedBy>Frank Castrejon</cp:lastModifiedBy>
  <cp:revision>24</cp:revision>
  <dcterms:created xsi:type="dcterms:W3CDTF">2026-10-02T22:58:40Z</dcterms:created>
  <dcterms:modified xsi:type="dcterms:W3CDTF">2026-10-03T00:26:14Z</dcterms:modified>
</cp:coreProperties>
</file>